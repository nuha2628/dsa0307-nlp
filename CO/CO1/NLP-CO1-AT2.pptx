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</p:sldIdLst>
  <p:sldSz cx="9144000" cy="5143500" type="screen16x9"/>
  <p:notesSz cx="5143500" cy="9144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308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938436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Morphological Analysis for Indian Languages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40745"/>
            <a:ext cx="4722763" cy="1111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Short guide to morphology in Indian languages — why it matters, core challenges, practical approaches, and a focused case study. Designed for NLP researchers, engineers, and linguistic product teams.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180284" y="4032200"/>
            <a:ext cx="104589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8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FA0222-848F-8998-0323-35D61803DFB6}"/>
              </a:ext>
            </a:extLst>
          </p:cNvPr>
          <p:cNvSpPr txBox="1"/>
          <p:nvPr/>
        </p:nvSpPr>
        <p:spPr>
          <a:xfrm>
            <a:off x="8060788" y="4811151"/>
            <a:ext cx="1083212" cy="3323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676212-B0E4-809A-D00B-2F795484FD1F}"/>
              </a:ext>
            </a:extLst>
          </p:cNvPr>
          <p:cNvSpPr txBox="1"/>
          <p:nvPr/>
        </p:nvSpPr>
        <p:spPr>
          <a:xfrm>
            <a:off x="7638757" y="3910818"/>
            <a:ext cx="1301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 Nuha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192472242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4755"/>
            <a:ext cx="4722763" cy="675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Morphology? 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925119" y="1293614"/>
            <a:ext cx="4722763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Morphology studies the internal structure of words and how morphemes (roots, prefixes, suffixes, infixes) combine to form meaning. It sits between phonology and syntax, and drives form-to-meaning mapping critical for NLP tasks like tagging, lemmatization, and parsing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282949"/>
            <a:ext cx="337765" cy="33776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23842" y="2282949"/>
            <a:ext cx="42240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423842" y="2571304"/>
            <a:ext cx="42240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Root/stem, inflection (tense, number, gender), derivation (creating new words).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251076"/>
            <a:ext cx="337765" cy="33776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23842" y="3251076"/>
            <a:ext cx="42240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Morpheme types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4423842" y="3539430"/>
            <a:ext cx="42240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vs bound morphemes; clitics; compound formation.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4008090"/>
            <a:ext cx="337765" cy="33776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423842" y="4008090"/>
            <a:ext cx="42240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NLP outputs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4423842" y="4296445"/>
            <a:ext cx="42240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Segmentation, morphological tags, lemmas, and feature-value pairs.</a:t>
            </a:r>
            <a:endParaRPr 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C2C409-1DBA-07FF-7526-6E27DD981C1C}"/>
              </a:ext>
            </a:extLst>
          </p:cNvPr>
          <p:cNvSpPr txBox="1"/>
          <p:nvPr/>
        </p:nvSpPr>
        <p:spPr>
          <a:xfrm>
            <a:off x="8039685" y="4718670"/>
            <a:ext cx="104804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9100"/>
            <a:ext cx="4722763" cy="101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Uniqueness of Indian Languages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925119" y="1625798"/>
            <a:ext cx="4722763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Indian languages show rich morphology: agglutinative patterns (Telugu, Tamil), fusional and inflectional behavior (Hindi, Marathi), and extensive case/ergativity contrasts. Script diversity and sandhi (phonological alternations) further complicate analysis.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25119" y="2615133"/>
            <a:ext cx="2297013" cy="1201341"/>
          </a:xfrm>
          <a:prstGeom prst="roundRect">
            <a:avLst>
              <a:gd name="adj" fmla="val 47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64943" y="2754957"/>
            <a:ext cx="2017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morpheme density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64943" y="3043312"/>
            <a:ext cx="2017365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suffix chains encode tense, aspect, politeness, and honorifics.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50868" y="2615133"/>
            <a:ext cx="2297013" cy="1201341"/>
          </a:xfrm>
          <a:prstGeom prst="roundRect">
            <a:avLst>
              <a:gd name="adj" fmla="val 472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0692" y="2754957"/>
            <a:ext cx="2017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Orthographic variation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0692" y="3043312"/>
            <a:ext cx="2017365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scripts and non-standard spellings in social text.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25119" y="3945210"/>
            <a:ext cx="4722763" cy="779115"/>
          </a:xfrm>
          <a:prstGeom prst="roundRect">
            <a:avLst>
              <a:gd name="adj" fmla="val 728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64943" y="4085034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Morphophonemic changes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64943" y="4373389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Sandhi and vowel harmony change surface forms of morphemes.</a:t>
            </a:r>
            <a:endParaRPr 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BBA160-4E14-8826-0823-C963FF4D4CA0}"/>
              </a:ext>
            </a:extLst>
          </p:cNvPr>
          <p:cNvSpPr txBox="1"/>
          <p:nvPr/>
        </p:nvSpPr>
        <p:spPr>
          <a:xfrm>
            <a:off x="8039686" y="4724325"/>
            <a:ext cx="1104314" cy="4188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6285"/>
            <a:ext cx="3478039" cy="19708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24796" y="661764"/>
            <a:ext cx="432777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Challenges in Morphological Analysis for Indian Languages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324796" y="1512243"/>
            <a:ext cx="4327773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Data scarcity for low-resource languages and dialects.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Complex inflectional paradigms and long agglutinative suffixes.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Ambiguity: same surface form can map to multiple analyses.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Script conversion and romanization inconsistencies in user-generated content.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Domain shift: formal vs colloquial usage impacts analyzer accuracy.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785494" y="3847430"/>
            <a:ext cx="372531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877544-4365-4DAB-950C-8D9782FC6B38}"/>
              </a:ext>
            </a:extLst>
          </p:cNvPr>
          <p:cNvSpPr txBox="1"/>
          <p:nvPr/>
        </p:nvSpPr>
        <p:spPr>
          <a:xfrm>
            <a:off x="8053754" y="4860388"/>
            <a:ext cx="1090246" cy="20398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72306"/>
            <a:ext cx="4722763" cy="65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Rule-Based Approaches: Pros and Cons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925119" y="1306488"/>
            <a:ext cx="472276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Rule-based systems (finite-state transducers, hand-crafted lexicons, morphological grammars) encode linguistic knowledge explicitly. They remain valuable where data is scarce and linguistic transparency is required.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925119" y="2044526"/>
            <a:ext cx="4722763" cy="1253058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70077" y="2189485"/>
            <a:ext cx="443284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70077" y="2465859"/>
            <a:ext cx="4432846" cy="6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Deterministic outputs and interpretable errors.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Works well with small lexicons and expert knowledge.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Efficient runtime (FSTs are fast).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925119" y="3418061"/>
            <a:ext cx="4722763" cy="1253058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70077" y="3563020"/>
            <a:ext cx="443284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070077" y="3839394"/>
            <a:ext cx="4432846" cy="6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High initial engineering cost to cover variants.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Hard to scale across dialects or noisy orthography.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Poor handling of unseen or borrowed forms.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CFA360-B840-C437-B705-629AA3AE8D9D}"/>
              </a:ext>
            </a:extLst>
          </p:cNvPr>
          <p:cNvSpPr txBox="1"/>
          <p:nvPr/>
        </p:nvSpPr>
        <p:spPr>
          <a:xfrm>
            <a:off x="8102991" y="4867422"/>
            <a:ext cx="977704" cy="2760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9412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Statistical &amp; Machine Learning Methods: Data-Driven Rise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28728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taggers, CRFs, and modern neural models (BiLSTM-CRF, Transformer-based encoders) learn morphological patterns from annotated data and raw corpora via transfer learning and subword models.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00386"/>
            <a:ext cx="1143595" cy="14294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50706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Sequence models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81357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CRFs and BiLSTMs produce high-quality tagging with moderate data.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900386"/>
            <a:ext cx="1143595" cy="14294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50706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Pretrained transformers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81357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BERT / IndicBERT capture subword regularities and context.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900386"/>
            <a:ext cx="1143595" cy="14294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50706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Transfer &amp; augmentation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81357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Cross-lingual transfer, synthetic data, and back-translation improve coverage.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611055-6EAB-5F70-F77B-8920E90CF98B}"/>
              </a:ext>
            </a:extLst>
          </p:cNvPr>
          <p:cNvSpPr txBox="1"/>
          <p:nvPr/>
        </p:nvSpPr>
        <p:spPr>
          <a:xfrm>
            <a:off x="8039686" y="4867422"/>
            <a:ext cx="1041009" cy="2214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5198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Applications: From Spell Check to Machine Translation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43075"/>
            <a:ext cx="1104900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603078"/>
            <a:ext cx="190500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Spell &amp; grammar checking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31046"/>
            <a:ext cx="190500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segmentation reduces false positives and improves suggestions.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743075"/>
            <a:ext cx="1104900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60307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translation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2909590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Morphology-aware models produce grammatically correct target forms.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743075"/>
            <a:ext cx="1104900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60307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Search &amp; retrieval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2909590"/>
            <a:ext cx="19050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Lemma normalization and morphological expansion increase recall.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743075"/>
            <a:ext cx="1104900" cy="6828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603078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Information extraction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131046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Accurate morphological analysis improves entity recognition and relation extraction.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2B8362-6FCB-16DE-4E86-7E30C5AD6BDD}"/>
              </a:ext>
            </a:extLst>
          </p:cNvPr>
          <p:cNvSpPr txBox="1"/>
          <p:nvPr/>
        </p:nvSpPr>
        <p:spPr>
          <a:xfrm>
            <a:off x="8032652" y="4825218"/>
            <a:ext cx="1062111" cy="3182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5780"/>
            <a:ext cx="4722763" cy="6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Future of Morphological Analysis in Indian NLP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496119" y="1205582"/>
            <a:ext cx="4722763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Synergy of linguistics and large-scale pretraining, better tools for low-resource languages, community-driven annotated corpora, and interpretable hybrid systems will shape next-generation morphological analyzers. Focus areas: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904926"/>
            <a:ext cx="2305124" cy="1099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7087" y="2035894"/>
            <a:ext cx="204318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resources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7087" y="2300585"/>
            <a:ext cx="2043187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lexica, paradigms, and evaluation suites for regional languages.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3683" y="1904926"/>
            <a:ext cx="2305199" cy="1099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044651" y="2035894"/>
            <a:ext cx="20432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Explainable models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044651" y="2300585"/>
            <a:ext cx="204326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pipelines that provide human-understandable analyses and error signals.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130899"/>
            <a:ext cx="4722763" cy="89445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7087" y="3247802"/>
            <a:ext cx="44608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Cross-lingual transfer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27087" y="3512493"/>
            <a:ext cx="446082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typological similarity to bootstrap analyzers for related languages.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579</Words>
  <Application>Microsoft Office PowerPoint</Application>
  <PresentationFormat>On-screen Show (16:9)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Inter</vt:lpstr>
      <vt:lpstr>Inter Bold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nuha shaik</cp:lastModifiedBy>
  <cp:revision>2</cp:revision>
  <dcterms:created xsi:type="dcterms:W3CDTF">2026-07-25T07:30:01Z</dcterms:created>
  <dcterms:modified xsi:type="dcterms:W3CDTF">2026-07-28T02:55:53Z</dcterms:modified>
</cp:coreProperties>
</file>